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0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jhE3e/lsyD+a2AvzjqlkekWOOz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5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4.xml"/><Relationship Id="rId21" Type="http://schemas.openxmlformats.org/officeDocument/2006/relationships/font" Target="fonts/RobotoMono-bold.fntdata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" name="Google Shape;3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1f6f699925_6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g31f6f699925_6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1f6f69992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g31f6f699925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1f6f699925_8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g31f6f699925_8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f6f69992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g31f6f699925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1f6f699925_5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1f6f699925_5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1f6f699925_5_13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f6f699925_5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f6f699925_5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1f6f699925_5_22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f6f699925_6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1f6f699925_6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f6f699925_6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31f6f699925_6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1f6f699925_6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31f6f699925_6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f6f69992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g31f6f699925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>
  <p:cSld name="標題及物件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9"/>
          <p:cNvSpPr txBox="1"/>
          <p:nvPr>
            <p:ph idx="1" type="body"/>
          </p:nvPr>
        </p:nvSpPr>
        <p:spPr>
          <a:xfrm>
            <a:off x="609600" y="1600200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just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just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just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just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just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just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just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just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8" name="Google Shape;18;p29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0" type="dt"/>
          </p:nvPr>
        </p:nvSpPr>
        <p:spPr>
          <a:xfrm>
            <a:off x="554037" y="6440487"/>
            <a:ext cx="5973762" cy="31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>
  <p:cSld name="標題及物件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8"/>
          <p:cNvSpPr txBox="1"/>
          <p:nvPr>
            <p:ph idx="1" type="body"/>
          </p:nvPr>
        </p:nvSpPr>
        <p:spPr>
          <a:xfrm>
            <a:off x="609600" y="1600200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just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just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just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just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just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just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just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just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4" name="Google Shape;34;p28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0" type="dt"/>
          </p:nvPr>
        </p:nvSpPr>
        <p:spPr>
          <a:xfrm>
            <a:off x="554037" y="6440487"/>
            <a:ext cx="5973762" cy="31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latin typeface="DFKai-SB"/>
                <a:ea typeface="DFKai-SB"/>
                <a:cs typeface="DFKai-SB"/>
                <a:sym typeface="DFKai-S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7.jp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/>
        </p:nvSpPr>
        <p:spPr>
          <a:xfrm>
            <a:off x="0" y="0"/>
            <a:ext cx="12192000" cy="7010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5"/>
          <p:cNvSpPr/>
          <p:nvPr/>
        </p:nvSpPr>
        <p:spPr>
          <a:xfrm>
            <a:off x="9169400" y="111125"/>
            <a:ext cx="2928937" cy="91916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國立臺北科技大學" id="12" name="Google Shape;1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48787" y="269875"/>
            <a:ext cx="2570162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5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" type="body"/>
          </p:nvPr>
        </p:nvSpPr>
        <p:spPr>
          <a:xfrm>
            <a:off x="609600" y="1600200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marR="0" rtl="0" algn="just">
              <a:lnSpc>
                <a:spcPct val="12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  <a:defRPr b="1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93700" lvl="1" marL="914400" marR="0" rtl="0" algn="just">
              <a:lnSpc>
                <a:spcPct val="12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–"/>
              <a:defRPr b="1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93700" lvl="2" marL="1371600" marR="0" rtl="0" algn="just">
              <a:lnSpc>
                <a:spcPct val="12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  <a:defRPr b="1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93700" lvl="3" marL="1828800" marR="0" rtl="0" algn="just">
              <a:lnSpc>
                <a:spcPct val="12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–"/>
              <a:defRPr b="1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93700" lvl="4" marL="2286000" marR="0" rtl="0" algn="just">
              <a:lnSpc>
                <a:spcPct val="12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»"/>
              <a:defRPr b="1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93700" lvl="5" marL="2743200" marR="0" rtl="0" algn="just">
              <a:lnSpc>
                <a:spcPct val="12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»"/>
              <a:defRPr b="1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93700" lvl="6" marL="3200400" marR="0" rtl="0" algn="just">
              <a:lnSpc>
                <a:spcPct val="12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»"/>
              <a:defRPr b="1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93700" lvl="7" marL="3657600" marR="0" rtl="0" algn="just">
              <a:lnSpc>
                <a:spcPct val="12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»"/>
              <a:defRPr b="1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93700" lvl="8" marL="4114800" marR="0" rtl="0" algn="just">
              <a:lnSpc>
                <a:spcPct val="12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»"/>
              <a:defRPr b="1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7"/>
          <p:cNvSpPr txBox="1"/>
          <p:nvPr/>
        </p:nvSpPr>
        <p:spPr>
          <a:xfrm>
            <a:off x="0" y="0"/>
            <a:ext cx="12192000" cy="7010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7"/>
          <p:cNvSpPr txBox="1"/>
          <p:nvPr/>
        </p:nvSpPr>
        <p:spPr>
          <a:xfrm>
            <a:off x="0" y="7937"/>
            <a:ext cx="12192000" cy="685006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CBC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國立臺北科技大學" id="23" name="Google Shape;23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301287" y="128587"/>
            <a:ext cx="1828800" cy="2921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網路創業前需要知道的3 件事，否則請不要輕易開始創業｜創億學堂" id="24" name="Google Shape;24;p27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網路創業前需要知道的3 件事，否則請不要輕易開始創業｜創億學堂" id="25" name="Google Shape;25;p27"/>
          <p:cNvSpPr txBox="1"/>
          <p:nvPr/>
        </p:nvSpPr>
        <p:spPr>
          <a:xfrm>
            <a:off x="307975" y="79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7"/>
          <p:cNvSpPr txBox="1"/>
          <p:nvPr/>
        </p:nvSpPr>
        <p:spPr>
          <a:xfrm flipH="1" rot="10800000">
            <a:off x="609600" y="1192212"/>
            <a:ext cx="10972800" cy="46037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23236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7"/>
          <p:cNvSpPr txBox="1"/>
          <p:nvPr/>
        </p:nvSpPr>
        <p:spPr>
          <a:xfrm>
            <a:off x="8284101" y="6452523"/>
            <a:ext cx="3298299" cy="3111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1" i="0" lang="zh-TW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工業工程與管理系 蘇威豪 助理教授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7"/>
          <p:cNvSpPr txBox="1"/>
          <p:nvPr/>
        </p:nvSpPr>
        <p:spPr>
          <a:xfrm flipH="1" rot="10800000">
            <a:off x="609600" y="6407150"/>
            <a:ext cx="10972800" cy="46037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23236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7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0" name="Google Shape;30;p27"/>
          <p:cNvSpPr txBox="1"/>
          <p:nvPr>
            <p:ph idx="1" type="body"/>
          </p:nvPr>
        </p:nvSpPr>
        <p:spPr>
          <a:xfrm>
            <a:off x="609600" y="1600200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marR="0" rtl="0" algn="just">
              <a:lnSpc>
                <a:spcPct val="12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  <a:defRPr b="1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93700" lvl="1" marL="914400" marR="0" rtl="0" algn="just">
              <a:lnSpc>
                <a:spcPct val="12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–"/>
              <a:defRPr b="1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93700" lvl="2" marL="1371600" marR="0" rtl="0" algn="just">
              <a:lnSpc>
                <a:spcPct val="12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  <a:defRPr b="1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93700" lvl="3" marL="1828800" marR="0" rtl="0" algn="just">
              <a:lnSpc>
                <a:spcPct val="12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–"/>
              <a:defRPr b="1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93700" lvl="4" marL="2286000" marR="0" rtl="0" algn="just">
              <a:lnSpc>
                <a:spcPct val="12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»"/>
              <a:defRPr b="1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93700" lvl="5" marL="2743200" marR="0" rtl="0" algn="just">
              <a:lnSpc>
                <a:spcPct val="12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»"/>
              <a:defRPr b="1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93700" lvl="6" marL="3200400" marR="0" rtl="0" algn="just">
              <a:lnSpc>
                <a:spcPct val="12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»"/>
              <a:defRPr b="1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93700" lvl="7" marL="3657600" marR="0" rtl="0" algn="just">
              <a:lnSpc>
                <a:spcPct val="12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»"/>
              <a:defRPr b="1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93700" lvl="8" marL="4114800" marR="0" rtl="0" algn="just">
              <a:lnSpc>
                <a:spcPct val="12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»"/>
              <a:defRPr b="1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1" name="Google Shape;31;p27"/>
          <p:cNvSpPr txBox="1"/>
          <p:nvPr>
            <p:ph idx="10" type="dt"/>
          </p:nvPr>
        </p:nvSpPr>
        <p:spPr>
          <a:xfrm>
            <a:off x="554037" y="6440487"/>
            <a:ext cx="5973762" cy="31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hyperlink" Target="https://blog.csdn.net/Taily_Duan/article/details/51506776" TargetMode="External"/><Relationship Id="rId5" Type="http://schemas.openxmlformats.org/officeDocument/2006/relationships/hyperlink" Target="https://blog.csdn.net/taily_duan/article/details/51886019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57883" y="-838944"/>
            <a:ext cx="12900667" cy="8062917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</p:pic>
      <p:sp>
        <p:nvSpPr>
          <p:cNvPr descr="工廠效率化：品管作業與異常管制技巧｜5/13 (四) ｜Accupass 活動通" id="41" name="Google Shape;41;p1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ocess Capablity Part II - Cp &amp; Cpk - YouTube" id="42" name="Google Shape;42;p1"/>
          <p:cNvSpPr txBox="1"/>
          <p:nvPr/>
        </p:nvSpPr>
        <p:spPr>
          <a:xfrm>
            <a:off x="307975" y="79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-457883" y="-838944"/>
            <a:ext cx="12963645" cy="8090704"/>
          </a:xfrm>
          <a:prstGeom prst="rect">
            <a:avLst/>
          </a:prstGeom>
          <a:solidFill>
            <a:schemeClr val="dk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/>
          <p:cNvSpPr txBox="1"/>
          <p:nvPr/>
        </p:nvSpPr>
        <p:spPr>
          <a:xfrm>
            <a:off x="6023939" y="1544414"/>
            <a:ext cx="54780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zh-TW" sz="28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第一組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zh-TW" sz="28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成員110310336 戴卓彥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zh-TW" sz="28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成員110310338 柯議翔</a:t>
            </a:r>
            <a:endParaRPr b="1" i="0" sz="2800" u="none" cap="none" strike="noStrik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zh-TW" sz="28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成員110590018 劉承翰</a:t>
            </a:r>
            <a:endParaRPr b="1" sz="28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zh-TW" sz="28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4204892" y="616643"/>
            <a:ext cx="9116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FKai-SB"/>
              <a:buNone/>
            </a:pPr>
            <a:r>
              <a:rPr b="1" lang="zh-TW" sz="4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AmigoBot智慧物流辨識系統</a:t>
            </a:r>
            <a:endParaRPr b="1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/>
          <p:cNvSpPr txBox="1"/>
          <p:nvPr>
            <p:ph idx="1" type="body"/>
          </p:nvPr>
        </p:nvSpPr>
        <p:spPr>
          <a:xfrm>
            <a:off x="609600" y="1200636"/>
            <a:ext cx="10972800" cy="44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342900" lvl="0" marL="114300" rtl="0" algn="just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lang="zh-TW" sz="24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主要是在模擬倉儲配送機器人，探討如何在物流及倉儲環境中提升貨物分類效率。隨著電子商務的快速發展，自動化技術能有效解決人力資源短缺的問題。因此，我們以AmigoBot運送機器人為平台，開發一個模擬系統，實現貨物接收、運輸與分類的流程。</a:t>
            </a:r>
            <a:endParaRPr b="0" sz="2400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114300" rtl="0" algn="just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2400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342900" lvl="0" marL="114300" rtl="0" algn="just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lang="zh-TW" sz="24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專題的主要功能為：當AmigoBot接收到貨物後，會自動運送至指定地點；接著透過教室上的IP Camera進行圖像辨識，判斷車上貨物的種類；最後根據貨物類型，將其精準地放置於對應的分類區域。此模擬系統不僅展示了配送機器人在物流中心的應用場景，也驗證了圖像辨識技術在實際分類操作中的可行性。</a:t>
            </a:r>
            <a:br>
              <a:rPr lang="zh-TW"/>
            </a:br>
            <a:endParaRPr b="0">
              <a:latin typeface="DFKai-SB"/>
              <a:ea typeface="DFKai-SB"/>
              <a:cs typeface="DFKai-SB"/>
              <a:sym typeface="DFKai-SB"/>
            </a:endParaRPr>
          </a:p>
          <a:p>
            <a:pPr indent="-177800" lvl="0" marL="3429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t/>
            </a:r>
            <a:endParaRPr b="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51" name="Google Shape;51;p2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摘要</a:t>
            </a:r>
            <a:endParaRPr sz="3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714375" y="6510337"/>
            <a:ext cx="54753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FKai-SB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8602662" y="6491287"/>
            <a:ext cx="2979600" cy="266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第</a:t>
            </a: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二</a:t>
            </a: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組 期末報告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11477625" y="6520120"/>
            <a:ext cx="609738" cy="29039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1f6f699925_6_10"/>
          <p:cNvSpPr txBox="1"/>
          <p:nvPr>
            <p:ph idx="1" type="body"/>
          </p:nvPr>
        </p:nvSpPr>
        <p:spPr>
          <a:xfrm>
            <a:off x="609600" y="1200636"/>
            <a:ext cx="10972800" cy="44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ctr"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000"/>
          </a:p>
          <a:p>
            <a:pPr indent="0" lvl="0" marL="114300" rtl="0" algn="ctr"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zh-TW" sz="3000"/>
              <a:t>運送與避障 : 柯議翔</a:t>
            </a:r>
            <a:endParaRPr sz="3000"/>
          </a:p>
          <a:p>
            <a:pPr indent="0" lvl="0" marL="114300" rtl="0" algn="ctr"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zh-TW" sz="3000"/>
              <a:t>移動算法改良 : 劉承翰</a:t>
            </a:r>
            <a:endParaRPr sz="3000"/>
          </a:p>
          <a:p>
            <a:pPr indent="0" lvl="0" marL="114300" rtl="0" algn="ctr"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zh-TW" sz="3000"/>
              <a:t>圖塊辨識算法 : 戴卓彥</a:t>
            </a:r>
            <a:endParaRPr b="0" sz="3000">
              <a:latin typeface="DFKai-SB"/>
              <a:ea typeface="DFKai-SB"/>
              <a:cs typeface="DFKai-SB"/>
              <a:sym typeface="DFKai-SB"/>
            </a:endParaRPr>
          </a:p>
          <a:p>
            <a:pPr indent="-177800" lvl="0" marL="3429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t/>
            </a:r>
            <a:endParaRPr b="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60" name="Google Shape;60;g31f6f699925_6_10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分工</a:t>
            </a:r>
            <a:endParaRPr sz="3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61" name="Google Shape;61;g31f6f699925_6_10"/>
          <p:cNvSpPr txBox="1"/>
          <p:nvPr/>
        </p:nvSpPr>
        <p:spPr>
          <a:xfrm>
            <a:off x="714375" y="6510337"/>
            <a:ext cx="54753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FKai-SB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31f6f699925_6_10"/>
          <p:cNvSpPr txBox="1"/>
          <p:nvPr/>
        </p:nvSpPr>
        <p:spPr>
          <a:xfrm>
            <a:off x="8602662" y="6491287"/>
            <a:ext cx="2979600" cy="266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第</a:t>
            </a: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二</a:t>
            </a: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組 期末報告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31f6f699925_6_10"/>
          <p:cNvSpPr txBox="1"/>
          <p:nvPr/>
        </p:nvSpPr>
        <p:spPr>
          <a:xfrm>
            <a:off x="11477625" y="6520120"/>
            <a:ext cx="609600" cy="290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1f6f699925_0_8"/>
          <p:cNvSpPr txBox="1"/>
          <p:nvPr>
            <p:ph idx="1" type="body"/>
          </p:nvPr>
        </p:nvSpPr>
        <p:spPr>
          <a:xfrm>
            <a:off x="609600" y="1200636"/>
            <a:ext cx="10972800" cy="44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zh-TW"/>
              <a:t>  </a:t>
            </a:r>
            <a:r>
              <a:rPr b="0" lang="zh-TW">
                <a:latin typeface="DFKai-SB"/>
                <a:ea typeface="DFKai-SB"/>
                <a:cs typeface="DFKai-SB"/>
                <a:sym typeface="DFKai-SB"/>
              </a:rPr>
              <a:t>目的:</a:t>
            </a:r>
            <a:endParaRPr b="0">
              <a:latin typeface="DFKai-SB"/>
              <a:ea typeface="DFKai-SB"/>
              <a:cs typeface="DFKai-SB"/>
              <a:sym typeface="DFKai-SB"/>
            </a:endParaRPr>
          </a:p>
          <a:p>
            <a:pPr indent="457200" lvl="0" marL="0" rtl="0" algn="just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lang="zh-TW">
                <a:latin typeface="DFKai-SB"/>
                <a:ea typeface="DFKai-SB"/>
                <a:cs typeface="DFKai-SB"/>
                <a:sym typeface="DFKai-SB"/>
              </a:rPr>
              <a:t> 當AmigoBot收到物品後 要從教室後方的小房間</a:t>
            </a:r>
            <a:endParaRPr b="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just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lang="zh-TW">
                <a:latin typeface="DFKai-SB"/>
                <a:ea typeface="DFKai-SB"/>
                <a:cs typeface="DFKai-SB"/>
                <a:sym typeface="DFKai-SB"/>
              </a:rPr>
              <a:t> 運送物品到教室前方的桌子，到定點後做辨識處理。</a:t>
            </a:r>
            <a:endParaRPr b="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1651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b="0" lang="zh-TW">
                <a:latin typeface="DFKai-SB"/>
                <a:ea typeface="DFKai-SB"/>
                <a:cs typeface="DFKai-SB"/>
                <a:sym typeface="DFKai-SB"/>
              </a:rPr>
              <a:t>流程規劃:</a:t>
            </a:r>
            <a:endParaRPr b="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>
                <a:latin typeface="DFKai-SB"/>
                <a:ea typeface="DFKai-SB"/>
                <a:cs typeface="DFKai-SB"/>
                <a:sym typeface="DFKai-SB"/>
              </a:rPr>
              <a:t>		1.確認接收到物品後，按下按鈕開始移動。</a:t>
            </a:r>
            <a:endParaRPr b="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>
                <a:latin typeface="DFKai-SB"/>
                <a:ea typeface="DFKai-SB"/>
                <a:cs typeface="DFKai-SB"/>
                <a:sym typeface="DFKai-SB"/>
              </a:rPr>
              <a:t>		2.移動過程中，考慮每顆聲納的讀值進行避障。</a:t>
            </a:r>
            <a:endParaRPr b="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>
                <a:latin typeface="DFKai-SB"/>
                <a:ea typeface="DFKai-SB"/>
                <a:cs typeface="DFKai-SB"/>
                <a:sym typeface="DFKai-SB"/>
              </a:rPr>
              <a:t>		  同時保持行走在路徑正中間。</a:t>
            </a:r>
            <a:endParaRPr b="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>
                <a:latin typeface="DFKai-SB"/>
                <a:ea typeface="DFKai-SB"/>
                <a:cs typeface="DFKai-SB"/>
                <a:sym typeface="DFKai-SB"/>
              </a:rPr>
              <a:t>		3.終點兩旁左右會放置障礙物，根據左右</a:t>
            </a:r>
            <a:endParaRPr b="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9144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>
                <a:latin typeface="DFKai-SB"/>
                <a:ea typeface="DFKai-SB"/>
                <a:cs typeface="DFKai-SB"/>
                <a:sym typeface="DFKai-SB"/>
              </a:rPr>
              <a:t>  讀值判斷是否抵達終點。</a:t>
            </a:r>
            <a:endParaRPr b="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69" name="Google Shape;69;g31f6f699925_0_8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運送與避障</a:t>
            </a:r>
            <a:endParaRPr sz="3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70" name="Google Shape;70;g31f6f699925_0_8"/>
          <p:cNvSpPr txBox="1"/>
          <p:nvPr/>
        </p:nvSpPr>
        <p:spPr>
          <a:xfrm>
            <a:off x="714375" y="6510337"/>
            <a:ext cx="54753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FKai-SB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1f6f699925_0_8"/>
          <p:cNvSpPr txBox="1"/>
          <p:nvPr/>
        </p:nvSpPr>
        <p:spPr>
          <a:xfrm>
            <a:off x="8602662" y="6491287"/>
            <a:ext cx="2979600" cy="266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第</a:t>
            </a: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二</a:t>
            </a: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組 期末報告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31f6f699925_0_8"/>
          <p:cNvSpPr txBox="1"/>
          <p:nvPr/>
        </p:nvSpPr>
        <p:spPr>
          <a:xfrm>
            <a:off x="11477625" y="6520120"/>
            <a:ext cx="609600" cy="290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g31f6f699925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87525" y="1417625"/>
            <a:ext cx="2609850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g31f6f699925_0_8"/>
          <p:cNvSpPr/>
          <p:nvPr/>
        </p:nvSpPr>
        <p:spPr>
          <a:xfrm>
            <a:off x="8732700" y="3606175"/>
            <a:ext cx="2883300" cy="26847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g31f6f699925_0_8"/>
          <p:cNvSpPr/>
          <p:nvPr/>
        </p:nvSpPr>
        <p:spPr>
          <a:xfrm>
            <a:off x="8732700" y="3606175"/>
            <a:ext cx="1204500" cy="916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g31f6f699925_0_8"/>
          <p:cNvSpPr/>
          <p:nvPr/>
        </p:nvSpPr>
        <p:spPr>
          <a:xfrm>
            <a:off x="8732700" y="3623125"/>
            <a:ext cx="533100" cy="886800"/>
          </a:xfrm>
          <a:prstGeom prst="roundRect">
            <a:avLst>
              <a:gd fmla="val 16667" name="adj"/>
            </a:avLst>
          </a:prstGeom>
          <a:solidFill>
            <a:srgbClr val="2323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g31f6f699925_0_8"/>
          <p:cNvSpPr/>
          <p:nvPr/>
        </p:nvSpPr>
        <p:spPr>
          <a:xfrm>
            <a:off x="8984950" y="4255975"/>
            <a:ext cx="502500" cy="266700"/>
          </a:xfrm>
          <a:prstGeom prst="roundRect">
            <a:avLst>
              <a:gd fmla="val 16667" name="adj"/>
            </a:avLst>
          </a:prstGeom>
          <a:solidFill>
            <a:srgbClr val="2323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g31f6f699925_0_8"/>
          <p:cNvSpPr/>
          <p:nvPr/>
        </p:nvSpPr>
        <p:spPr>
          <a:xfrm>
            <a:off x="9635325" y="3606175"/>
            <a:ext cx="301800" cy="649800"/>
          </a:xfrm>
          <a:prstGeom prst="roundRect">
            <a:avLst>
              <a:gd fmla="val 16667" name="adj"/>
            </a:avLst>
          </a:prstGeom>
          <a:solidFill>
            <a:srgbClr val="2323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g31f6f699925_0_8"/>
          <p:cNvSpPr/>
          <p:nvPr/>
        </p:nvSpPr>
        <p:spPr>
          <a:xfrm>
            <a:off x="9058900" y="3142775"/>
            <a:ext cx="842400" cy="391800"/>
          </a:xfrm>
          <a:prstGeom prst="wedgeRectCallout">
            <a:avLst>
              <a:gd fmla="val -15785" name="adj1"/>
              <a:gd fmla="val 182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起點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g31f6f699925_0_8"/>
          <p:cNvSpPr/>
          <p:nvPr/>
        </p:nvSpPr>
        <p:spPr>
          <a:xfrm>
            <a:off x="8732700" y="5304700"/>
            <a:ext cx="842400" cy="391800"/>
          </a:xfrm>
          <a:prstGeom prst="roundRect">
            <a:avLst>
              <a:gd fmla="val 16667" name="adj"/>
            </a:avLst>
          </a:prstGeom>
          <a:solidFill>
            <a:srgbClr val="2323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g31f6f699925_0_8"/>
          <p:cNvSpPr/>
          <p:nvPr/>
        </p:nvSpPr>
        <p:spPr>
          <a:xfrm>
            <a:off x="8732700" y="4717788"/>
            <a:ext cx="842400" cy="391800"/>
          </a:xfrm>
          <a:prstGeom prst="roundRect">
            <a:avLst>
              <a:gd fmla="val 16667" name="adj"/>
            </a:avLst>
          </a:prstGeom>
          <a:solidFill>
            <a:srgbClr val="2323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g31f6f699925_0_8"/>
          <p:cNvSpPr/>
          <p:nvPr/>
        </p:nvSpPr>
        <p:spPr>
          <a:xfrm>
            <a:off x="9753138" y="4717800"/>
            <a:ext cx="842400" cy="391800"/>
          </a:xfrm>
          <a:prstGeom prst="roundRect">
            <a:avLst>
              <a:gd fmla="val 16667" name="adj"/>
            </a:avLst>
          </a:prstGeom>
          <a:solidFill>
            <a:srgbClr val="2323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g31f6f699925_0_8"/>
          <p:cNvSpPr/>
          <p:nvPr/>
        </p:nvSpPr>
        <p:spPr>
          <a:xfrm>
            <a:off x="10773600" y="4717800"/>
            <a:ext cx="842400" cy="391800"/>
          </a:xfrm>
          <a:prstGeom prst="roundRect">
            <a:avLst>
              <a:gd fmla="val 16667" name="adj"/>
            </a:avLst>
          </a:prstGeom>
          <a:solidFill>
            <a:srgbClr val="2323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g31f6f699925_0_8"/>
          <p:cNvSpPr/>
          <p:nvPr/>
        </p:nvSpPr>
        <p:spPr>
          <a:xfrm>
            <a:off x="9753150" y="5311075"/>
            <a:ext cx="842400" cy="391800"/>
          </a:xfrm>
          <a:prstGeom prst="roundRect">
            <a:avLst>
              <a:gd fmla="val 16667" name="adj"/>
            </a:avLst>
          </a:prstGeom>
          <a:solidFill>
            <a:srgbClr val="2323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g31f6f699925_0_8"/>
          <p:cNvSpPr/>
          <p:nvPr/>
        </p:nvSpPr>
        <p:spPr>
          <a:xfrm>
            <a:off x="10773600" y="5304700"/>
            <a:ext cx="842400" cy="391800"/>
          </a:xfrm>
          <a:prstGeom prst="roundRect">
            <a:avLst>
              <a:gd fmla="val 16667" name="adj"/>
            </a:avLst>
          </a:prstGeom>
          <a:solidFill>
            <a:srgbClr val="2323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g31f6f699925_0_8"/>
          <p:cNvSpPr/>
          <p:nvPr/>
        </p:nvSpPr>
        <p:spPr>
          <a:xfrm>
            <a:off x="9753150" y="5857000"/>
            <a:ext cx="842400" cy="391800"/>
          </a:xfrm>
          <a:prstGeom prst="roundRect">
            <a:avLst>
              <a:gd fmla="val 16667" name="adj"/>
            </a:avLst>
          </a:prstGeom>
          <a:solidFill>
            <a:srgbClr val="2323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g31f6f699925_0_8"/>
          <p:cNvSpPr/>
          <p:nvPr/>
        </p:nvSpPr>
        <p:spPr>
          <a:xfrm>
            <a:off x="8732700" y="5857000"/>
            <a:ext cx="842400" cy="391800"/>
          </a:xfrm>
          <a:prstGeom prst="roundRect">
            <a:avLst>
              <a:gd fmla="val 16667" name="adj"/>
            </a:avLst>
          </a:prstGeom>
          <a:solidFill>
            <a:srgbClr val="2323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g31f6f699925_0_8"/>
          <p:cNvSpPr/>
          <p:nvPr/>
        </p:nvSpPr>
        <p:spPr>
          <a:xfrm>
            <a:off x="10773600" y="5857000"/>
            <a:ext cx="842400" cy="391800"/>
          </a:xfrm>
          <a:prstGeom prst="roundRect">
            <a:avLst>
              <a:gd fmla="val 16667" name="adj"/>
            </a:avLst>
          </a:prstGeom>
          <a:solidFill>
            <a:srgbClr val="2323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g31f6f699925_0_8"/>
          <p:cNvSpPr/>
          <p:nvPr/>
        </p:nvSpPr>
        <p:spPr>
          <a:xfrm>
            <a:off x="9539250" y="4236500"/>
            <a:ext cx="251400" cy="1034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g31f6f699925_0_8"/>
          <p:cNvSpPr/>
          <p:nvPr/>
        </p:nvSpPr>
        <p:spPr>
          <a:xfrm>
            <a:off x="7760250" y="4396300"/>
            <a:ext cx="842400" cy="391800"/>
          </a:xfrm>
          <a:prstGeom prst="wedgeRectCallout">
            <a:avLst>
              <a:gd fmla="val 171712" name="adj1"/>
              <a:gd fmla="val 169506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終</a:t>
            </a: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點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g31f6f699925_0_8"/>
          <p:cNvSpPr/>
          <p:nvPr/>
        </p:nvSpPr>
        <p:spPr>
          <a:xfrm rot="2700000">
            <a:off x="9361930" y="3992759"/>
            <a:ext cx="236315" cy="26686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f6f699925_8_1"/>
          <p:cNvSpPr txBox="1"/>
          <p:nvPr>
            <p:ph idx="1" type="body"/>
          </p:nvPr>
        </p:nvSpPr>
        <p:spPr>
          <a:xfrm>
            <a:off x="609600" y="1200636"/>
            <a:ext cx="10972800" cy="44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0" sz="17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rPr lang="zh-TW" sz="1700"/>
              <a:t>論文名稱:自導移動機器車取貨及運輸路徑之最短化分析</a:t>
            </a:r>
            <a:endParaRPr sz="17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rPr lang="zh-TW" sz="1700"/>
              <a:t>Kuo, Y. (2021). *Analysis of Shortest Path in Pickup and Delivery for Autonomous Mobile Robot Carts* (Master's thesis). National Tsing Hua University, Hsinchu, Taiwan.</a:t>
            </a:r>
            <a:endParaRPr sz="17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rPr b="0" lang="zh-TW" sz="1700"/>
              <a:t>摘要:</a:t>
            </a:r>
            <a:endParaRPr b="0" sz="1700"/>
          </a:p>
          <a:p>
            <a:pPr indent="45720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rPr b="0" lang="zh-TW" sz="1700"/>
              <a:t>這篇論文在探討物流與工業應用中，透過自主移動機器車（Autonomous Mobile Robot, AMR）系統提升取貨與運輸效率的策略與技術。其重點在於如何設計路徑規劃與優化演算法，確保 AMR 能以最短路徑完成取貨及卸載的任務，同時處理定位、導航與避障等實務挑戰。經過實驗驗證，證明所提出的方法在室內物流環境中的實用性與優化效果。</a:t>
            </a:r>
            <a:endParaRPr b="0" sz="17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rPr b="0" lang="zh-TW" sz="1700"/>
              <a:t>引用:</a:t>
            </a:r>
            <a:endParaRPr b="0" sz="17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rPr b="0" lang="zh-TW" sz="1700"/>
              <a:t>動態窗口法（Dynamic Window Approach）:</a:t>
            </a:r>
            <a:endParaRPr b="0" sz="1700"/>
          </a:p>
          <a:p>
            <a:pPr indent="45720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rPr b="0" lang="zh-TW" sz="1700"/>
              <a:t>通過預測不同速度和角速度下的車體位置，計算與障礙物、目標和參考路徑的距離，賦予每個方向成本分數，可幫助設計聲納讀值處理的邏輯，從而實現即時避障和路徑優化​。</a:t>
            </a:r>
            <a:endParaRPr b="0" sz="17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0" sz="1700"/>
          </a:p>
        </p:txBody>
      </p:sp>
      <p:sp>
        <p:nvSpPr>
          <p:cNvPr id="97" name="Google Shape;97;g31f6f699925_8_1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參考論文</a:t>
            </a:r>
            <a:endParaRPr sz="3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98" name="Google Shape;98;g31f6f699925_8_1"/>
          <p:cNvSpPr txBox="1"/>
          <p:nvPr/>
        </p:nvSpPr>
        <p:spPr>
          <a:xfrm>
            <a:off x="714375" y="6510337"/>
            <a:ext cx="54753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FKai-SB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1f6f699925_8_1"/>
          <p:cNvSpPr txBox="1"/>
          <p:nvPr/>
        </p:nvSpPr>
        <p:spPr>
          <a:xfrm>
            <a:off x="8602662" y="6491287"/>
            <a:ext cx="2979600" cy="266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第</a:t>
            </a: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二</a:t>
            </a: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組 期末報告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1f6f699925_8_1"/>
          <p:cNvSpPr txBox="1"/>
          <p:nvPr/>
        </p:nvSpPr>
        <p:spPr>
          <a:xfrm>
            <a:off x="11477625" y="6520120"/>
            <a:ext cx="609600" cy="290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f6f699925_0_16"/>
          <p:cNvSpPr txBox="1"/>
          <p:nvPr>
            <p:ph idx="1" type="body"/>
          </p:nvPr>
        </p:nvSpPr>
        <p:spPr>
          <a:xfrm>
            <a:off x="609600" y="1417636"/>
            <a:ext cx="10972800" cy="44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just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zh-TW"/>
              <a:t>在未修改前，移動算法會因為目標點在相對於車子的不同象現而產生旋轉的問題，導致無法如期移動至目標點。而且該式子並沒有足夠的數學公式能夠佐證其有效性。</a:t>
            </a:r>
            <a:br>
              <a:rPr lang="zh-TW"/>
            </a:br>
            <a:endParaRPr b="0">
              <a:latin typeface="DFKai-SB"/>
              <a:ea typeface="DFKai-SB"/>
              <a:cs typeface="DFKai-SB"/>
              <a:sym typeface="DFKai-SB"/>
            </a:endParaRPr>
          </a:p>
          <a:p>
            <a:pPr indent="-177800" lvl="0" marL="3429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t/>
            </a:r>
            <a:endParaRPr b="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06" name="Google Shape;106;g31f6f699925_0_16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移動算法改良</a:t>
            </a:r>
            <a:endParaRPr sz="3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07" name="Google Shape;107;g31f6f699925_0_16"/>
          <p:cNvSpPr txBox="1"/>
          <p:nvPr/>
        </p:nvSpPr>
        <p:spPr>
          <a:xfrm>
            <a:off x="714375" y="6510337"/>
            <a:ext cx="54753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FKai-SB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1f6f699925_0_16"/>
          <p:cNvSpPr txBox="1"/>
          <p:nvPr/>
        </p:nvSpPr>
        <p:spPr>
          <a:xfrm>
            <a:off x="8602662" y="6491287"/>
            <a:ext cx="2979600" cy="266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第</a:t>
            </a: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二</a:t>
            </a: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組 期末報告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1f6f699925_0_16"/>
          <p:cNvSpPr txBox="1"/>
          <p:nvPr/>
        </p:nvSpPr>
        <p:spPr>
          <a:xfrm>
            <a:off x="11477625" y="6520120"/>
            <a:ext cx="609600" cy="290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g31f6f699925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4925" y="3286187"/>
            <a:ext cx="8682153" cy="75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f6f699925_5_13"/>
          <p:cNvSpPr txBox="1"/>
          <p:nvPr>
            <p:ph idx="1" type="body"/>
          </p:nvPr>
        </p:nvSpPr>
        <p:spPr>
          <a:xfrm>
            <a:off x="609600" y="1417625"/>
            <a:ext cx="10972800" cy="4708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rPr lang="zh-TW"/>
              <a:t>定義方向:</a:t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rPr lang="zh-TW"/>
              <a:t>Origin_angle = 0~360</a:t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rPr lang="zh-TW"/>
              <a:t>Theta = 與target相差角度</a:t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1f6f699925_5_13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移動算法改良</a:t>
            </a:r>
            <a:endParaRPr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g31f6f699925_5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9125" y="3008525"/>
            <a:ext cx="3053775" cy="311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f6f699925_5_22"/>
          <p:cNvSpPr txBox="1"/>
          <p:nvPr>
            <p:ph idx="1" type="body"/>
          </p:nvPr>
        </p:nvSpPr>
        <p:spPr>
          <a:xfrm>
            <a:off x="609600" y="1417625"/>
            <a:ext cx="10972800" cy="4708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rPr lang="zh-TW"/>
              <a:t>速度:</a:t>
            </a:r>
            <a:endParaRPr/>
          </a:p>
        </p:txBody>
      </p:sp>
      <p:sp>
        <p:nvSpPr>
          <p:cNvPr id="125" name="Google Shape;125;g31f6f699925_5_22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移動算法改良</a:t>
            </a:r>
            <a:endParaRPr/>
          </a:p>
        </p:txBody>
      </p:sp>
      <p:sp>
        <p:nvSpPr>
          <p:cNvPr id="126" name="Google Shape;126;g31f6f699925_5_22"/>
          <p:cNvSpPr txBox="1"/>
          <p:nvPr/>
        </p:nvSpPr>
        <p:spPr>
          <a:xfrm>
            <a:off x="609600" y="3344750"/>
            <a:ext cx="28308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origin_angle更新: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Google Shape;127;g31f6f699925_5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7950" y="2167800"/>
            <a:ext cx="10037376" cy="69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1f6f699925_5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7950" y="4172575"/>
            <a:ext cx="10037375" cy="741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1f6f699925_6_2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物件辨識方法</a:t>
            </a:r>
            <a:endParaRPr sz="3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34" name="Google Shape;134;g31f6f699925_6_2"/>
          <p:cNvSpPr txBox="1"/>
          <p:nvPr/>
        </p:nvSpPr>
        <p:spPr>
          <a:xfrm>
            <a:off x="714375" y="6510337"/>
            <a:ext cx="54753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FKai-SB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1f6f699925_6_2"/>
          <p:cNvSpPr txBox="1"/>
          <p:nvPr/>
        </p:nvSpPr>
        <p:spPr>
          <a:xfrm>
            <a:off x="8602662" y="6491287"/>
            <a:ext cx="2979600" cy="266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第</a:t>
            </a: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二</a:t>
            </a: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組 期末報告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1f6f699925_6_2"/>
          <p:cNvSpPr txBox="1"/>
          <p:nvPr/>
        </p:nvSpPr>
        <p:spPr>
          <a:xfrm>
            <a:off x="11477625" y="6520120"/>
            <a:ext cx="609600" cy="290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1f6f699925_6_2"/>
          <p:cNvSpPr txBox="1"/>
          <p:nvPr>
            <p:ph idx="1" type="body"/>
          </p:nvPr>
        </p:nvSpPr>
        <p:spPr>
          <a:xfrm>
            <a:off x="609600" y="1417635"/>
            <a:ext cx="109728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just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zh-TW"/>
              <a:t>辨識遇到的問題</a:t>
            </a:r>
            <a:br>
              <a:rPr lang="zh-TW"/>
            </a:br>
            <a:endParaRPr b="0">
              <a:latin typeface="DFKai-SB"/>
              <a:ea typeface="DFKai-SB"/>
              <a:cs typeface="DFKai-SB"/>
              <a:sym typeface="DFKai-SB"/>
            </a:endParaRPr>
          </a:p>
          <a:p>
            <a:pPr indent="-177800" lvl="0" marL="3429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t/>
            </a:r>
            <a:endParaRPr b="0"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138" name="Google Shape;138;g31f6f699925_6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0775" y="3771825"/>
            <a:ext cx="4033324" cy="2213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1f6f699925_6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2625" y="3771825"/>
            <a:ext cx="4033324" cy="222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1f6f699925_6_2"/>
          <p:cNvSpPr txBox="1"/>
          <p:nvPr/>
        </p:nvSpPr>
        <p:spPr>
          <a:xfrm>
            <a:off x="803775" y="2173225"/>
            <a:ext cx="97443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在原本辨識的程式中會將色板最右上角設定為點四，所以會導致我們無法用點計算角度判別車子的方向，因為點位會一直刷新。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1f6f699925_6_33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物件辨識方法</a:t>
            </a:r>
            <a:endParaRPr sz="3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46" name="Google Shape;146;g31f6f699925_6_33"/>
          <p:cNvSpPr txBox="1"/>
          <p:nvPr/>
        </p:nvSpPr>
        <p:spPr>
          <a:xfrm>
            <a:off x="714375" y="6510337"/>
            <a:ext cx="54753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FKai-SB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1f6f699925_6_33"/>
          <p:cNvSpPr txBox="1"/>
          <p:nvPr/>
        </p:nvSpPr>
        <p:spPr>
          <a:xfrm>
            <a:off x="8602662" y="6491287"/>
            <a:ext cx="2979600" cy="266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第</a:t>
            </a: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二</a:t>
            </a: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組 期末報告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1f6f699925_6_33"/>
          <p:cNvSpPr txBox="1"/>
          <p:nvPr/>
        </p:nvSpPr>
        <p:spPr>
          <a:xfrm>
            <a:off x="11477625" y="6520120"/>
            <a:ext cx="609600" cy="290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1f6f699925_6_33"/>
          <p:cNvSpPr/>
          <p:nvPr/>
        </p:nvSpPr>
        <p:spPr>
          <a:xfrm>
            <a:off x="714375" y="1499275"/>
            <a:ext cx="4715700" cy="2171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1"/>
                </a:solidFill>
              </a:rPr>
              <a:t>步驟 1：從 IP Camera 獲取影像</a:t>
            </a:r>
            <a:endParaRPr b="1" sz="13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使用 OpenCV 的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VideoCapture</a:t>
            </a:r>
            <a:r>
              <a:rPr lang="zh-TW">
                <a:solidFill>
                  <a:schemeClr val="dk1"/>
                </a:solidFill>
              </a:rPr>
              <a:t> 方法連接 IP Camera。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輸入 IP Camera 提供的 URL，例如 RTSP 或 HTTP。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持續從攝像頭讀取影像，確保可以即時獲取畫面。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g31f6f699925_6_33"/>
          <p:cNvSpPr/>
          <p:nvPr/>
        </p:nvSpPr>
        <p:spPr>
          <a:xfrm>
            <a:off x="6754275" y="1422625"/>
            <a:ext cx="4339500" cy="2324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2. 色塊辨識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將影像轉換成 HSV 色彩空間，針對指定顏色（如紅色或藍色）設定顏色範圍。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使用遮罩技術篩選出目標色塊，並透過影像處理找出色塊的位置。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1" name="Google Shape;151;g31f6f699925_6_33"/>
          <p:cNvCxnSpPr>
            <a:stCxn id="149" idx="3"/>
            <a:endCxn id="150" idx="1"/>
          </p:cNvCxnSpPr>
          <p:nvPr/>
        </p:nvCxnSpPr>
        <p:spPr>
          <a:xfrm>
            <a:off x="5430075" y="2584825"/>
            <a:ext cx="132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g31f6f699925_6_33"/>
          <p:cNvSpPr/>
          <p:nvPr/>
        </p:nvSpPr>
        <p:spPr>
          <a:xfrm>
            <a:off x="3632175" y="4180325"/>
            <a:ext cx="4339500" cy="2017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chemeClr val="dk1"/>
                </a:solidFill>
              </a:rPr>
              <a:t>3. 定位與座標計算</a:t>
            </a:r>
            <a:endParaRPr b="1" sz="13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定義影像中的平面為一個二維座標系統。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透過色塊的位置，計算 AmigoBot 與預設色板的位置座標。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比較 AmigoBot 與兩個色板的距離，選出最近的色板作為目標。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3" name="Google Shape;153;g31f6f699925_6_33"/>
          <p:cNvCxnSpPr>
            <a:stCxn id="150" idx="2"/>
            <a:endCxn id="152" idx="3"/>
          </p:cNvCxnSpPr>
          <p:nvPr/>
        </p:nvCxnSpPr>
        <p:spPr>
          <a:xfrm rot="5400000">
            <a:off x="7726875" y="3991975"/>
            <a:ext cx="1442100" cy="952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1f6f699925_6_78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物件辨識方法</a:t>
            </a:r>
            <a:endParaRPr sz="3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59" name="Google Shape;159;g31f6f699925_6_78"/>
          <p:cNvSpPr txBox="1"/>
          <p:nvPr/>
        </p:nvSpPr>
        <p:spPr>
          <a:xfrm>
            <a:off x="714375" y="6510337"/>
            <a:ext cx="54753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FKai-SB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1f6f699925_6_78"/>
          <p:cNvSpPr txBox="1"/>
          <p:nvPr/>
        </p:nvSpPr>
        <p:spPr>
          <a:xfrm>
            <a:off x="8602662" y="6491287"/>
            <a:ext cx="2979600" cy="266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第</a:t>
            </a: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二</a:t>
            </a: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組 期末報告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1f6f699925_6_78"/>
          <p:cNvSpPr txBox="1"/>
          <p:nvPr/>
        </p:nvSpPr>
        <p:spPr>
          <a:xfrm>
            <a:off x="11477625" y="6520120"/>
            <a:ext cx="609600" cy="290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1f6f699925_6_78"/>
          <p:cNvSpPr txBox="1"/>
          <p:nvPr>
            <p:ph idx="1" type="body"/>
          </p:nvPr>
        </p:nvSpPr>
        <p:spPr>
          <a:xfrm>
            <a:off x="609600" y="1417635"/>
            <a:ext cx="109728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just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zh-TW"/>
              <a:t>辨識方法-參考文獻</a:t>
            </a:r>
            <a:br>
              <a:rPr lang="zh-TW"/>
            </a:br>
            <a:endParaRPr b="0">
              <a:latin typeface="DFKai-SB"/>
              <a:ea typeface="DFKai-SB"/>
              <a:cs typeface="DFKai-SB"/>
              <a:sym typeface="DFKai-SB"/>
            </a:endParaRPr>
          </a:p>
          <a:p>
            <a:pPr indent="-177800" lvl="0" marL="3429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t/>
            </a:r>
            <a:endParaRPr b="0"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163" name="Google Shape;163;g31f6f699925_6_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8275" y="4449400"/>
            <a:ext cx="4174125" cy="19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1f6f699925_6_78"/>
          <p:cNvSpPr txBox="1"/>
          <p:nvPr/>
        </p:nvSpPr>
        <p:spPr>
          <a:xfrm>
            <a:off x="714375" y="2131925"/>
            <a:ext cx="107634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rgbClr val="222226"/>
                </a:solidFill>
                <a:highlight>
                  <a:srgbClr val="FFFFFF"/>
                </a:highlight>
                <a:latin typeface="Microsoft Yahei"/>
                <a:ea typeface="Microsoft Yahei"/>
                <a:cs typeface="Microsoft Yahei"/>
                <a:sym typeface="Microsoft Yahei"/>
              </a:rPr>
              <a:t>【OpenCV】HSV颜色识别-HSV基本颜色分量范围</a:t>
            </a:r>
            <a:endParaRPr b="1"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/>
              <a:t>摘要: 此篇文章詳細講解了HSV顏色的基本概念與如何實作顏色識別，並且透過hsv實作做出瓶蓋顏色識別。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/>
              <a:t>文章連結 : </a:t>
            </a:r>
            <a:r>
              <a:rPr lang="zh-TW" sz="2400" u="sng">
                <a:solidFill>
                  <a:schemeClr val="hlink"/>
                </a:solidFill>
                <a:hlinkClick r:id="rId4"/>
              </a:rPr>
              <a:t>https://blog.csdn.net/Taily_Duan/article/details/51506776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/>
              <a:t>		      </a:t>
            </a:r>
            <a:r>
              <a:rPr lang="zh-TW" sz="2400" u="sng">
                <a:solidFill>
                  <a:schemeClr val="hlink"/>
                </a:solidFill>
                <a:hlinkClick r:id="rId5"/>
              </a:rPr>
              <a:t>https://blog.csdn.net/taily_duan/article/details/51886019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1f6f699925_0_24"/>
          <p:cNvSpPr txBox="1"/>
          <p:nvPr>
            <p:ph idx="1" type="body"/>
          </p:nvPr>
        </p:nvSpPr>
        <p:spPr>
          <a:xfrm>
            <a:off x="609600" y="1200636"/>
            <a:ext cx="10972800" cy="44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br>
              <a:rPr lang="zh-TW"/>
            </a:br>
            <a:r>
              <a:rPr lang="zh-TW"/>
              <a:t>	</a:t>
            </a:r>
            <a:r>
              <a:rPr b="0" lang="zh-TW">
                <a:latin typeface="DFKai-SB"/>
                <a:ea typeface="DFKai-SB"/>
                <a:cs typeface="DFKai-SB"/>
                <a:sym typeface="DFKai-SB"/>
              </a:rPr>
              <a:t>合作部分：第一組負責模擬倉儲環境中使用機械手臂完成貨物的精準搬運，他們的機械手臂會將貨物從倉儲區域抓取並放置於我們的AmigoBot機器人上。</a:t>
            </a:r>
            <a:endParaRPr b="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70" name="Google Shape;170;g31f6f699925_0_24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合作</a:t>
            </a:r>
            <a:endParaRPr sz="36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71" name="Google Shape;171;g31f6f699925_0_24"/>
          <p:cNvSpPr txBox="1"/>
          <p:nvPr/>
        </p:nvSpPr>
        <p:spPr>
          <a:xfrm>
            <a:off x="714375" y="6510337"/>
            <a:ext cx="54753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FKai-SB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1f6f699925_0_24"/>
          <p:cNvSpPr txBox="1"/>
          <p:nvPr/>
        </p:nvSpPr>
        <p:spPr>
          <a:xfrm>
            <a:off x="8602662" y="6491287"/>
            <a:ext cx="2979600" cy="266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第</a:t>
            </a: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二</a:t>
            </a: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組 期末報告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1f6f699925_0_24"/>
          <p:cNvSpPr txBox="1"/>
          <p:nvPr/>
        </p:nvSpPr>
        <p:spPr>
          <a:xfrm>
            <a:off x="11477625" y="6520120"/>
            <a:ext cx="609600" cy="290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3069" y="0"/>
            <a:ext cx="12518615" cy="716867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4"/>
          <p:cNvSpPr/>
          <p:nvPr/>
        </p:nvSpPr>
        <p:spPr>
          <a:xfrm>
            <a:off x="-243070" y="-115746"/>
            <a:ext cx="12518615" cy="7284426"/>
          </a:xfrm>
          <a:prstGeom prst="rect">
            <a:avLst/>
          </a:prstGeom>
          <a:solidFill>
            <a:schemeClr val="dk1">
              <a:alpha val="61568"/>
            </a:schemeClr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4"/>
          <p:cNvSpPr txBox="1"/>
          <p:nvPr/>
        </p:nvSpPr>
        <p:spPr>
          <a:xfrm>
            <a:off x="3541856" y="2558003"/>
            <a:ext cx="623875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zh-TW" sz="9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謝謝大家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</cp:coreProperties>
</file>